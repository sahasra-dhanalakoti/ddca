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Geist" panose="020B0604020202020204" charset="0"/>
      <p:regular r:id="rId16"/>
    </p:embeddedFont>
    <p:embeddedFont>
      <p:font typeface="Geist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951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161256"/>
            <a:ext cx="6296860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Design and Simulation of Adder and Subtractor Using Logisim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3287514"/>
            <a:ext cx="6296860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Logic Design – Circuit Construction and Simulation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MEMBERS 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61475" y="4204097"/>
            <a:ext cx="6296860" cy="1492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SAHASRA DHANALAKOTI — 2620030411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RITHVIK REDDY — 2620030483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RITHWIK PATRUDU — 2620030484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SESHAM BAVESH KURN — 2620030486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SRAVANI REDDY — 2620030488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5" y="1080393"/>
            <a:ext cx="3522773" cy="46972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51259"/>
            <a:ext cx="6296860" cy="1094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6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 to Binary Arithmetic</a:t>
            </a:r>
            <a:endParaRPr lang="en-US" sz="3300" dirty="0"/>
          </a:p>
        </p:txBody>
      </p:sp>
      <p:sp>
        <p:nvSpPr>
          <p:cNvPr id="5" name="Shape 1"/>
          <p:cNvSpPr/>
          <p:nvPr/>
        </p:nvSpPr>
        <p:spPr>
          <a:xfrm>
            <a:off x="5233360" y="1870273"/>
            <a:ext cx="6296860" cy="944959"/>
          </a:xfrm>
          <a:prstGeom prst="roundRect">
            <a:avLst>
              <a:gd name="adj" fmla="val 748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2"/>
          <p:cNvSpPr/>
          <p:nvPr/>
        </p:nvSpPr>
        <p:spPr>
          <a:xfrm>
            <a:off x="5420681" y="2057598"/>
            <a:ext cx="592221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Binary Arithmetic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420681" y="2421037"/>
            <a:ext cx="5922219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Foundation of all digital systems and computations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233360" y="2965152"/>
            <a:ext cx="6296860" cy="944959"/>
          </a:xfrm>
          <a:prstGeom prst="roundRect">
            <a:avLst>
              <a:gd name="adj" fmla="val 748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5420681" y="3152477"/>
            <a:ext cx="592221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Adders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5420681" y="3515916"/>
            <a:ext cx="5922219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 two binary numbers to produce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Sum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Carry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outputs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233360" y="4060031"/>
            <a:ext cx="6296860" cy="1151830"/>
          </a:xfrm>
          <a:prstGeom prst="roundRect">
            <a:avLst>
              <a:gd name="adj" fmla="val 613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5420681" y="4247356"/>
            <a:ext cx="592221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Subtractors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5420681" y="4610795"/>
            <a:ext cx="5922219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 the difference between binary numbers using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Difference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Borrow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outputs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233360" y="5361781"/>
            <a:ext cx="6296860" cy="944959"/>
          </a:xfrm>
          <a:prstGeom prst="roundRect">
            <a:avLst>
              <a:gd name="adj" fmla="val 748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5420681" y="5549106"/>
            <a:ext cx="592221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Logisim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5420681" y="5912545"/>
            <a:ext cx="5922219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Powerful simulation tool for designing, testing, and verifying digital circuits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8705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Half Adder Circuit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16" y="2743696"/>
            <a:ext cx="3210638" cy="2268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35448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Logic Gates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131542"/>
            <a:ext cx="6903269" cy="5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gate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produces the Sum output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AND gate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produces the Carry output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877965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 &amp; Outputs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374059"/>
            <a:ext cx="6903269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Inputs: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and B (single-bit binary values)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Sum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 ⊕ B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Carry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 · B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411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Half Adder Truth Table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41909"/>
            <a:ext cx="637980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Truth Table Results: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00201"/>
          <a:ext cx="9143771" cy="914400"/>
        </p:xfrm>
        <a:graphic>
          <a:graphicData uri="http://schemas.openxmlformats.org/drawingml/2006/table">
            <a:tbl>
              <a:tblPr/>
              <a:tblGrid>
                <a:gridCol w="1442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4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Sum (A ⊕ B)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Carry (A · B)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3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61475" y="5322491"/>
            <a:ext cx="577022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insight: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Carry output is 1 only when </a:t>
            </a:r>
            <a:r>
              <a:rPr lang="en-US" sz="14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both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inputs are 1 — a pure AND operation.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202" y="2631480"/>
            <a:ext cx="3614945" cy="24926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113"/>
            <a:ext cx="1086874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50" b="1" kern="0" spc="-5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 Adder Circuit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57982"/>
            <a:ext cx="3947220" cy="2355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03141"/>
            <a:ext cx="695377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61475" y="4003576"/>
            <a:ext cx="7563355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Half Adders cascaded with one OR gate to handle the carry-in signal.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4235351"/>
            <a:ext cx="695377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61475" y="4535785"/>
            <a:ext cx="6953771" cy="489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91000"/>
              </a:lnSpc>
              <a:buSzPct val="100000"/>
              <a:buChar char="•"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first binary input</a:t>
            </a:r>
            <a:endParaRPr lang="en-US" sz="1000" dirty="0"/>
          </a:p>
          <a:p>
            <a:pPr marL="203200" indent="-203200" algn="l">
              <a:lnSpc>
                <a:spcPct val="91000"/>
              </a:lnSpc>
              <a:buSzPct val="100000"/>
              <a:buChar char="•"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second binary input</a:t>
            </a:r>
            <a:endParaRPr lang="en-US" sz="1000" dirty="0"/>
          </a:p>
          <a:p>
            <a:pPr marL="203200" indent="-203200" algn="l">
              <a:lnSpc>
                <a:spcPct val="91000"/>
              </a:lnSpc>
              <a:buSzPct val="100000"/>
              <a:buChar char="•"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Cin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carry-in from previous stage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1475" y="5115024"/>
            <a:ext cx="695377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Boolean Expressions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5415459"/>
            <a:ext cx="6953771" cy="316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91000"/>
              </a:lnSpc>
              <a:buSzPct val="100000"/>
              <a:buChar char="•"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Sum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 ⊕ B ⊕ Cin</a:t>
            </a:r>
            <a:endParaRPr lang="en-US" sz="1000" dirty="0"/>
          </a:p>
          <a:p>
            <a:pPr marL="203200" indent="-203200" algn="l">
              <a:lnSpc>
                <a:spcPct val="91000"/>
              </a:lnSpc>
              <a:buSzPct val="100000"/>
              <a:buChar char="•"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Cout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AB + Cin(A ⊕ B)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1475" y="5832177"/>
            <a:ext cx="6953771" cy="368102"/>
          </a:xfrm>
          <a:prstGeom prst="roundRect">
            <a:avLst>
              <a:gd name="adj" fmla="val 14827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49" y="5954514"/>
            <a:ext cx="162417" cy="1298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3640" y="5944989"/>
            <a:ext cx="7011316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multi-bit addition through cascading multiple Full Adder stages.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94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kern="0" spc="-4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TRUTH TABLE OF FULL ADDER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10555"/>
            <a:ext cx="10536272" cy="51685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755"/>
            <a:ext cx="10868745" cy="794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Half Subtractor Circuit</a:t>
            </a:r>
            <a:endParaRPr lang="en-US" sz="4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95636"/>
            <a:ext cx="4873106" cy="190490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687366"/>
            <a:ext cx="5351329" cy="12263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33923" y="3883620"/>
            <a:ext cx="488263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Logic Gates Used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933923" y="4271169"/>
            <a:ext cx="488263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gate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computes the Difference output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AND + NOT gate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computes the Borrow output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892" y="3687366"/>
            <a:ext cx="5351329" cy="12263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51339" y="3883620"/>
            <a:ext cx="488263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451339" y="4271169"/>
            <a:ext cx="488263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Minuend (the number being subtracted from)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Subtrahend (the number being subtracted)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79802"/>
            <a:ext cx="5351329" cy="12263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3923" y="5276056"/>
            <a:ext cx="488263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Outputs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933923" y="5663605"/>
            <a:ext cx="488263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Difference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 ⊕ B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Borrow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A' · B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892" y="5079802"/>
            <a:ext cx="5351329" cy="12263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51339" y="5276056"/>
            <a:ext cx="488263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Limitation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6451339" y="5663605"/>
            <a:ext cx="488263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Cannot handle borrow-in from a previous subtractor stage — restricted to single-bit subtraction.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411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Half Subtractor Truth Table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41909"/>
            <a:ext cx="637980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Truth Table Results: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00201"/>
          <a:ext cx="9143771" cy="914400"/>
        </p:xfrm>
        <a:graphic>
          <a:graphicData uri="http://schemas.openxmlformats.org/drawingml/2006/table">
            <a:tbl>
              <a:tblPr/>
              <a:tblGrid>
                <a:gridCol w="1442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4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Difference (A ⊕ B)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Borrow (A' · B)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3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322491"/>
            <a:ext cx="577022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insight: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Borrow occurs when subtracting a larger bit (1) from a smaller bit (0) — i.e., 0 − 1 requires borrowing.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202" y="3071118"/>
            <a:ext cx="4637269" cy="16133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437"/>
            <a:ext cx="10868745" cy="585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00" b="1" kern="0" spc="-7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 Subtractor Circuit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29769"/>
            <a:ext cx="3518308" cy="1241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661" y="1556246"/>
            <a:ext cx="6910810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Components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25661" y="2020689"/>
            <a:ext cx="6910810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Half Subtractors combined with additional logic to handle the borrow-in signal from a prior stage.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25661" y="2649736"/>
            <a:ext cx="6910810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625661" y="3114179"/>
            <a:ext cx="6910810" cy="80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Minuend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Subtrahend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Bin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Borrow-in from previous stage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25661" y="4091980"/>
            <a:ext cx="6910810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Boolean Expressions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625661" y="4556423"/>
            <a:ext cx="6910810" cy="517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Difference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 ⊕ B ⊕ Bin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Bout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A'B + Bin(A' ⊕ B)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25661" y="5267027"/>
            <a:ext cx="6910810" cy="856258"/>
          </a:xfrm>
          <a:prstGeom prst="roundRect">
            <a:avLst>
              <a:gd name="adj" fmla="val 8837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738" y="5503763"/>
            <a:ext cx="225122" cy="1800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0938" y="5466457"/>
            <a:ext cx="6145456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multi-bit subtraction through cascading — the backbone of ALU subtract operations.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37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kern="0" spc="-4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TRUTH TABLE OF FULL SUBTRACTOR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80988"/>
            <a:ext cx="10558397" cy="5227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252"/>
            <a:ext cx="10868745" cy="518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00" b="1" kern="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Logisim Simulation &amp; Testing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13446"/>
            <a:ext cx="3551049" cy="35511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8000" y="1423690"/>
            <a:ext cx="31888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608000" y="1683544"/>
            <a:ext cx="6928470" cy="1905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608000" y="1801316"/>
            <a:ext cx="692847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Circuit Construction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608000" y="2194917"/>
            <a:ext cx="692847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Drag-and-drop gates onto the canvas and connect inputs/outputs with wires in Logisim.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08000" y="2640013"/>
            <a:ext cx="31888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08000" y="2883892"/>
            <a:ext cx="6928470" cy="1905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608000" y="3017639"/>
            <a:ext cx="692847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 Control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608000" y="3411240"/>
            <a:ext cx="692847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Toggle switches to set values for A, B, and carry/borrow-in signals interactively.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08000" y="3856335"/>
            <a:ext cx="31888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08000" y="4084340"/>
            <a:ext cx="6928470" cy="1905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608000" y="4233962"/>
            <a:ext cx="692847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Output Monitoring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608000" y="4627563"/>
            <a:ext cx="692847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LED indicators display live Sum/Carry or Difference/Borrow outputs in real time.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08000" y="5072658"/>
            <a:ext cx="31888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25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08000" y="5284688"/>
            <a:ext cx="6928470" cy="1905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4608000" y="5450284"/>
            <a:ext cx="692847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Verification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608000" y="5843885"/>
            <a:ext cx="692847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Compare all simulation results against expected truth table values to confirm correctness.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89459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 &amp; Applications</a:t>
            </a:r>
            <a:endParaRPr lang="en-US" sz="3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487190"/>
            <a:ext cx="472468" cy="472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370177" y="1487190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Adders in Practice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1370177" y="1907679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Used in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ALUs, calculators, and processors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perform all arithmetic and address computation operations.</a:t>
            </a:r>
            <a:endParaRPr lang="en-US" sz="14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777034"/>
            <a:ext cx="472468" cy="4724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370177" y="2777034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Subtractors in Practice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1370177" y="3197523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comparison, counting, and signed arithmetic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essential for control flow and data processing.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66877"/>
            <a:ext cx="472468" cy="4724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70177" y="4066877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Cascading Stages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1370177" y="4487366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Multiple stages create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n-bit adders/subtractors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the building blocks of real-world digital systems.</a:t>
            </a:r>
            <a:endParaRPr lang="en-US" sz="14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356721"/>
            <a:ext cx="472468" cy="4724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70177" y="5356721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Next Steps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1370177" y="5777210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Explore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multipliers, dividers, and advanced arithmetic circuits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extend your digital design skills.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47886"/>
            <a:ext cx="9000503" cy="5059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</Words>
  <Application>Microsoft Office PowerPoint</Application>
  <PresentationFormat>Widescreen</PresentationFormat>
  <Paragraphs>142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Geist</vt:lpstr>
      <vt:lpstr>Geist Light</vt:lpstr>
      <vt:lpstr>Geist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Sahasra</dc:creator>
  <cp:lastModifiedBy>sahasradhanalakoti58@outlook.com</cp:lastModifiedBy>
  <cp:revision>1</cp:revision>
  <dcterms:created xsi:type="dcterms:W3CDTF">2026-09-11T08:45:31Z</dcterms:created>
  <dcterms:modified xsi:type="dcterms:W3CDTF">2026-09-11T09:59:13Z</dcterms:modified>
</cp:coreProperties>
</file>